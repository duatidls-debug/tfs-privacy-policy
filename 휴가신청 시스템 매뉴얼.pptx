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6" r:id="rId4"/>
    <p:sldId id="277" r:id="rId5"/>
    <p:sldId id="258" r:id="rId6"/>
    <p:sldId id="259" r:id="rId7"/>
    <p:sldId id="271" r:id="rId8"/>
    <p:sldId id="260" r:id="rId9"/>
    <p:sldId id="261" r:id="rId10"/>
    <p:sldId id="263" r:id="rId11"/>
    <p:sldId id="278" r:id="rId12"/>
    <p:sldId id="280" r:id="rId13"/>
    <p:sldId id="279" r:id="rId14"/>
    <p:sldId id="264" r:id="rId15"/>
    <p:sldId id="265" r:id="rId16"/>
    <p:sldId id="266" r:id="rId17"/>
    <p:sldId id="267" r:id="rId18"/>
    <p:sldId id="270" r:id="rId1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11" autoAdjust="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BAE69-058F-4C94-B223-3445E7BCF99F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EC6D4-B041-43C1-BC5A-EF592948B5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921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8314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CB81C5B-55B8-428A-9C77-EDDEDE7186B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CEAE4E-991A-488F-AEDD-D514B00D0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48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CB81C5B-55B8-428A-9C77-EDDEDE7186B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CEAE4E-991A-488F-AEDD-D514B00D0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642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CB81C5B-55B8-428A-9C77-EDDEDE7186B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CEAE4E-991A-488F-AEDD-D514B00D0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54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CB81C5B-55B8-428A-9C77-EDDEDE7186B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CEAE4E-991A-488F-AEDD-D514B00D0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781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CB81C5B-55B8-428A-9C77-EDDEDE7186B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CEAE4E-991A-488F-AEDD-D514B00D0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901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CB81C5B-55B8-428A-9C77-EDDEDE7186B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CEAE4E-991A-488F-AEDD-D514B00D0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022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CB81C5B-55B8-428A-9C77-EDDEDE7186B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CEAE4E-991A-488F-AEDD-D514B00D0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609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CB81C5B-55B8-428A-9C77-EDDEDE7186B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CEAE4E-991A-488F-AEDD-D514B00D0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332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CB81C5B-55B8-428A-9C77-EDDEDE7186B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CEAE4E-991A-488F-AEDD-D514B00D0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28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CB81C5B-55B8-428A-9C77-EDDEDE7186B8}" type="datetimeFigureOut">
              <a:rPr lang="ko-KR" altLang="en-US" smtClean="0"/>
              <a:t>2026-05-15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1CEAE4E-991A-488F-AEDD-D514B00D0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835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4408" y="6436321"/>
            <a:ext cx="865470" cy="43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933" y="288032"/>
            <a:ext cx="2632419" cy="6148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직사각형 6"/>
          <p:cNvSpPr/>
          <p:nvPr userDrawn="1"/>
        </p:nvSpPr>
        <p:spPr>
          <a:xfrm>
            <a:off x="483933" y="288032"/>
            <a:ext cx="2632419" cy="61482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3419872" y="288033"/>
            <a:ext cx="5472608" cy="61482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34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1.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로그인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61" y="298899"/>
            <a:ext cx="2596245" cy="6128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3419872" y="307776"/>
            <a:ext cx="5400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smtClean="0"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로그인 계정 정보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]</a:t>
            </a:r>
          </a:p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  </a:t>
            </a:r>
            <a:r>
              <a:rPr lang="en-US" altLang="ko-KR" sz="1400" dirty="0">
                <a:latin typeface="+mn-ea"/>
              </a:rPr>
              <a:t>• </a:t>
            </a:r>
            <a:r>
              <a:rPr lang="ko-KR" altLang="en-US" sz="1400" dirty="0">
                <a:latin typeface="+mn-ea"/>
              </a:rPr>
              <a:t>초기 로그인 정보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       ID : </a:t>
            </a:r>
            <a:r>
              <a:rPr lang="ko-KR" altLang="en-US" sz="1400" dirty="0">
                <a:latin typeface="+mn-ea"/>
              </a:rPr>
              <a:t>개별 공지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      PW : </a:t>
            </a:r>
            <a:r>
              <a:rPr lang="ko-KR" altLang="en-US" sz="1400" dirty="0">
                <a:latin typeface="+mn-ea"/>
              </a:rPr>
              <a:t>개별 </a:t>
            </a:r>
            <a:r>
              <a:rPr lang="ko-KR" altLang="en-US" sz="1400" dirty="0" smtClean="0">
                <a:latin typeface="+mn-ea"/>
              </a:rPr>
              <a:t>공지</a:t>
            </a:r>
            <a:endParaRPr lang="en-US" altLang="ko-KR" sz="1400" dirty="0" smtClean="0">
              <a:latin typeface="+mn-ea"/>
            </a:endParaRPr>
          </a:p>
          <a:p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• </a:t>
            </a:r>
            <a:r>
              <a:rPr lang="ko-KR" altLang="en-US" sz="1400" dirty="0" err="1">
                <a:latin typeface="+mn-ea"/>
              </a:rPr>
              <a:t>로그인시</a:t>
            </a:r>
            <a:r>
              <a:rPr lang="ko-KR" altLang="en-US" sz="1400" dirty="0">
                <a:latin typeface="+mn-ea"/>
              </a:rPr>
              <a:t> </a:t>
            </a:r>
            <a:endParaRPr lang="en-US" altLang="ko-KR" sz="1400" dirty="0">
              <a:latin typeface="+mn-ea"/>
            </a:endParaRPr>
          </a:p>
          <a:p>
            <a:r>
              <a:rPr lang="ko-KR" altLang="en-US" sz="1400" dirty="0">
                <a:latin typeface="+mn-ea"/>
              </a:rPr>
              <a:t>       사용자명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개별 부여된 공지 계정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          PW : </a:t>
            </a:r>
            <a:r>
              <a:rPr lang="ko-KR" altLang="en-US" sz="1400" dirty="0">
                <a:latin typeface="+mn-ea"/>
              </a:rPr>
              <a:t>초기 </a:t>
            </a:r>
            <a:r>
              <a:rPr lang="en-US" altLang="ko-KR" sz="1400" dirty="0">
                <a:latin typeface="+mn-ea"/>
              </a:rPr>
              <a:t>PW </a:t>
            </a:r>
            <a:r>
              <a:rPr lang="ko-KR" altLang="en-US" sz="1400" dirty="0">
                <a:latin typeface="+mn-ea"/>
              </a:rPr>
              <a:t>혹은 본인이 설정한 </a:t>
            </a:r>
            <a:r>
              <a:rPr lang="en-US" altLang="ko-KR" sz="1400" dirty="0">
                <a:latin typeface="+mn-ea"/>
              </a:rPr>
              <a:t>PW</a:t>
            </a:r>
          </a:p>
          <a:p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비밀번호찾기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]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</a:t>
            </a:r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r>
              <a:rPr lang="en-US" altLang="ko-KR" sz="1400" dirty="0">
                <a:latin typeface="+mn-ea"/>
              </a:rPr>
              <a:t>     • SMTP </a:t>
            </a:r>
            <a:r>
              <a:rPr lang="ko-KR" altLang="en-US" sz="1400" dirty="0">
                <a:latin typeface="+mn-ea"/>
              </a:rPr>
              <a:t>미설정으로 기능 미 구현</a:t>
            </a:r>
            <a:r>
              <a:rPr lang="en-US" altLang="ko-KR" sz="1400" dirty="0">
                <a:latin typeface="+mn-ea"/>
              </a:rPr>
              <a:t>, </a:t>
            </a:r>
          </a:p>
          <a:p>
            <a:r>
              <a:rPr lang="en-US" altLang="ko-KR" sz="1400" dirty="0">
                <a:latin typeface="+mn-ea"/>
              </a:rPr>
              <a:t>         PW </a:t>
            </a:r>
            <a:r>
              <a:rPr lang="ko-KR" altLang="en-US" sz="1400" dirty="0">
                <a:latin typeface="+mn-ea"/>
              </a:rPr>
              <a:t>분실 시 별도 문의</a:t>
            </a:r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r>
              <a:rPr lang="en-US" altLang="ko-KR" sz="1400" dirty="0">
                <a:latin typeface="+mn-ea"/>
              </a:rPr>
              <a:t>※ </a:t>
            </a:r>
            <a:r>
              <a:rPr lang="ko-KR" altLang="en-US" sz="1400" dirty="0">
                <a:latin typeface="+mn-ea"/>
              </a:rPr>
              <a:t>시스템 오류 </a:t>
            </a:r>
            <a:r>
              <a:rPr lang="en-US" altLang="ko-KR" sz="1400" dirty="0">
                <a:latin typeface="+mn-ea"/>
              </a:rPr>
              <a:t>/ </a:t>
            </a:r>
            <a:r>
              <a:rPr lang="ko-KR" altLang="en-US" sz="1400" dirty="0">
                <a:latin typeface="+mn-ea"/>
              </a:rPr>
              <a:t>문구수정요청 </a:t>
            </a:r>
            <a:r>
              <a:rPr lang="en-US" altLang="ko-KR" sz="1400" dirty="0">
                <a:latin typeface="+mn-ea"/>
              </a:rPr>
              <a:t>/ </a:t>
            </a:r>
            <a:r>
              <a:rPr lang="ko-KR" altLang="en-US" sz="1400" dirty="0">
                <a:latin typeface="+mn-ea"/>
              </a:rPr>
              <a:t>계정분실 </a:t>
            </a:r>
            <a:r>
              <a:rPr lang="en-US" altLang="ko-KR" sz="1400" dirty="0">
                <a:latin typeface="+mn-ea"/>
              </a:rPr>
              <a:t>-&gt; </a:t>
            </a:r>
            <a:r>
              <a:rPr lang="ko-KR" altLang="en-US" sz="1400" dirty="0">
                <a:latin typeface="+mn-ea"/>
              </a:rPr>
              <a:t>염세인 차장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인사정보 정정</a:t>
            </a:r>
            <a:r>
              <a:rPr lang="en-US" altLang="ko-KR" sz="1400" dirty="0">
                <a:latin typeface="+mn-ea"/>
              </a:rPr>
              <a:t> / </a:t>
            </a:r>
            <a:r>
              <a:rPr lang="ko-KR" altLang="en-US" sz="1400" dirty="0">
                <a:latin typeface="+mn-ea"/>
              </a:rPr>
              <a:t>업무 관련 문의 </a:t>
            </a:r>
            <a:r>
              <a:rPr lang="en-US" altLang="ko-KR" sz="1400" dirty="0">
                <a:latin typeface="+mn-ea"/>
              </a:rPr>
              <a:t>-&gt; </a:t>
            </a:r>
            <a:r>
              <a:rPr lang="ko-KR" altLang="en-US" sz="1400" dirty="0" err="1">
                <a:latin typeface="+mn-ea"/>
              </a:rPr>
              <a:t>황미라</a:t>
            </a:r>
            <a:r>
              <a:rPr lang="ko-KR" altLang="en-US" sz="1400" dirty="0">
                <a:latin typeface="+mn-ea"/>
              </a:rPr>
              <a:t> 과장</a:t>
            </a:r>
          </a:p>
        </p:txBody>
      </p:sp>
    </p:spTree>
    <p:extLst>
      <p:ext uri="{BB962C8B-B14F-4D97-AF65-F5344CB8AC3E}">
        <p14:creationId xmlns:p14="http://schemas.microsoft.com/office/powerpoint/2010/main" val="1630511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0" y="298800"/>
            <a:ext cx="2595600" cy="61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0" y="0"/>
            <a:ext cx="9047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2. 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메인화면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&gt;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대시보드                                                                                                 </a:t>
            </a:r>
            <a:r>
              <a:rPr lang="ko-KR" altLang="en-US" sz="1050" dirty="0">
                <a:latin typeface="HY견고딕" pitchFamily="18" charset="-127"/>
                <a:ea typeface="HY견고딕" pitchFamily="18" charset="-127"/>
              </a:rPr>
              <a:t>로그인 후 최초화면 </a:t>
            </a:r>
          </a:p>
        </p:txBody>
      </p:sp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209" y="636571"/>
            <a:ext cx="2014610" cy="23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5449" y="3645024"/>
            <a:ext cx="2093101" cy="23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20"/>
          <p:cNvSpPr txBox="1"/>
          <p:nvPr/>
        </p:nvSpPr>
        <p:spPr>
          <a:xfrm>
            <a:off x="3771978" y="2990420"/>
            <a:ext cx="1423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휴가 캘린더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]</a:t>
            </a:r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99126" y="1438081"/>
            <a:ext cx="3575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• [</a:t>
            </a:r>
            <a:r>
              <a:rPr lang="ko-KR" altLang="en-US" sz="1200" dirty="0">
                <a:latin typeface="+mn-ea"/>
              </a:rPr>
              <a:t>결재 진행 중</a:t>
            </a:r>
            <a:r>
              <a:rPr lang="en-US" altLang="ko-KR" sz="1200" dirty="0">
                <a:latin typeface="+mn-ea"/>
              </a:rPr>
              <a:t>], [</a:t>
            </a:r>
            <a:r>
              <a:rPr lang="ko-KR" altLang="en-US" sz="1200" dirty="0">
                <a:latin typeface="+mn-ea"/>
              </a:rPr>
              <a:t>승인</a:t>
            </a:r>
            <a:r>
              <a:rPr lang="en-US" altLang="ko-KR" sz="1200" dirty="0">
                <a:latin typeface="+mn-ea"/>
              </a:rPr>
              <a:t>]</a:t>
            </a:r>
            <a:r>
              <a:rPr lang="ko-KR" altLang="en-US" sz="1200" dirty="0">
                <a:latin typeface="+mn-ea"/>
              </a:rPr>
              <a:t>상태인 총 휴가자 수 표기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전체보기 클릭 시</a:t>
            </a:r>
            <a:r>
              <a:rPr lang="en-US" altLang="ko-KR" sz="1200" dirty="0">
                <a:latin typeface="+mn-ea"/>
              </a:rPr>
              <a:t>, [</a:t>
            </a:r>
            <a:r>
              <a:rPr lang="ko-KR" altLang="en-US" sz="1200" dirty="0" err="1">
                <a:latin typeface="+mn-ea"/>
              </a:rPr>
              <a:t>휴가캘린더</a:t>
            </a:r>
            <a:r>
              <a:rPr lang="en-US" altLang="ko-KR" sz="1200" dirty="0">
                <a:latin typeface="+mn-ea"/>
              </a:rPr>
              <a:t>]</a:t>
            </a:r>
            <a:r>
              <a:rPr lang="ko-KR" altLang="en-US" sz="1200" dirty="0">
                <a:latin typeface="+mn-ea"/>
              </a:rPr>
              <a:t> 메뉴로 이동</a:t>
            </a:r>
            <a:r>
              <a:rPr lang="en-US" altLang="ko-KR" sz="1200" dirty="0">
                <a:latin typeface="+mn-ea"/>
              </a:rPr>
              <a:t> </a:t>
            </a:r>
          </a:p>
          <a:p>
            <a:endParaRPr lang="ko-KR" altLang="en-US" sz="12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18550" y="4149080"/>
            <a:ext cx="333617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로그인한 사용자가 결재권자인 경우</a:t>
            </a:r>
            <a:r>
              <a:rPr lang="en-US" altLang="ko-KR" sz="1200" dirty="0">
                <a:latin typeface="+mn-ea"/>
              </a:rPr>
              <a:t>, </a:t>
            </a:r>
          </a:p>
          <a:p>
            <a:r>
              <a:rPr lang="ko-KR" altLang="en-US" sz="1200" dirty="0">
                <a:latin typeface="+mn-ea"/>
              </a:rPr>
              <a:t>  본인에게 접수된 연차 </a:t>
            </a:r>
            <a:r>
              <a:rPr lang="ko-KR" altLang="en-US" sz="1200" dirty="0" err="1">
                <a:latin typeface="+mn-ea"/>
              </a:rPr>
              <a:t>신청건이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존재할경우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</a:t>
            </a:r>
            <a:r>
              <a:rPr lang="ko-KR" altLang="en-US" sz="1200" dirty="0">
                <a:latin typeface="+mn-ea"/>
              </a:rPr>
              <a:t>표기됨 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연차 </a:t>
            </a:r>
            <a:r>
              <a:rPr lang="ko-KR" altLang="en-US" sz="1200" dirty="0" err="1">
                <a:latin typeface="+mn-ea"/>
              </a:rPr>
              <a:t>신청건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클릭시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연차현황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메뉴로 이동</a:t>
            </a:r>
            <a:endParaRPr lang="en-US" altLang="ko-KR" sz="1200" dirty="0">
              <a:latin typeface="+mn-ea"/>
            </a:endParaRPr>
          </a:p>
          <a:p>
            <a:endParaRPr lang="ko-KR" altLang="en-US" sz="12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33935" y="6021287"/>
            <a:ext cx="1244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결재 현황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]</a:t>
            </a:r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6760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0" y="298800"/>
            <a:ext cx="2595600" cy="61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0" y="0"/>
            <a:ext cx="89883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2. 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메인화면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&gt;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대시보드                                                                                                 </a:t>
            </a:r>
            <a:r>
              <a:rPr lang="ko-KR" altLang="en-US" sz="1050" dirty="0">
                <a:latin typeface="HY견고딕" pitchFamily="18" charset="-127"/>
                <a:ea typeface="HY견고딕" pitchFamily="18" charset="-127"/>
              </a:rPr>
              <a:t>로그인 후 최초화면 </a:t>
            </a: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956" y="3634480"/>
            <a:ext cx="2123549" cy="23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614" y="946355"/>
            <a:ext cx="2074891" cy="23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5796136" y="1199203"/>
            <a:ext cx="311014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[</a:t>
            </a: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일반사용자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]</a:t>
            </a:r>
          </a:p>
          <a:p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연차신청 </a:t>
            </a:r>
            <a:r>
              <a:rPr lang="en-US" altLang="ko-KR" sz="1200" dirty="0">
                <a:latin typeface="+mn-ea"/>
              </a:rPr>
              <a:t>: [</a:t>
            </a:r>
            <a:r>
              <a:rPr lang="ko-KR" altLang="en-US" sz="1200" dirty="0">
                <a:latin typeface="+mn-ea"/>
              </a:rPr>
              <a:t>연차신청</a:t>
            </a:r>
            <a:r>
              <a:rPr lang="en-US" altLang="ko-KR" sz="1200" dirty="0">
                <a:latin typeface="+mn-ea"/>
              </a:rPr>
              <a:t>]</a:t>
            </a:r>
            <a:r>
              <a:rPr lang="ko-KR" altLang="en-US" sz="1200" dirty="0">
                <a:latin typeface="+mn-ea"/>
              </a:rPr>
              <a:t>메뉴로 이동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내 연차   </a:t>
            </a:r>
            <a:r>
              <a:rPr lang="en-US" altLang="ko-KR" sz="1200" dirty="0">
                <a:latin typeface="+mn-ea"/>
              </a:rPr>
              <a:t>: [</a:t>
            </a:r>
            <a:r>
              <a:rPr lang="ko-KR" altLang="en-US" sz="1200" dirty="0">
                <a:latin typeface="+mn-ea"/>
              </a:rPr>
              <a:t>내 연차</a:t>
            </a:r>
            <a:r>
              <a:rPr lang="en-US" altLang="ko-KR" sz="1200" dirty="0">
                <a:latin typeface="+mn-ea"/>
              </a:rPr>
              <a:t>]</a:t>
            </a:r>
            <a:r>
              <a:rPr lang="ko-KR" altLang="en-US" sz="1200" dirty="0">
                <a:latin typeface="+mn-ea"/>
              </a:rPr>
              <a:t>메뉴로 이동</a:t>
            </a:r>
            <a:endParaRPr lang="en-US" altLang="ko-KR" sz="1200" dirty="0">
              <a:latin typeface="+mn-ea"/>
            </a:endParaRP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[</a:t>
            </a:r>
            <a:r>
              <a:rPr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결재권자</a:t>
            </a:r>
            <a:r>
              <a:rPr lang="en-US" altLang="ko-KR" sz="1200" dirty="0">
                <a:latin typeface="HY견고딕" panose="02030600000101010101" pitchFamily="18" charset="-127"/>
                <a:ea typeface="HY견고딕" panose="02030600000101010101" pitchFamily="18" charset="-127"/>
              </a:rPr>
              <a:t>]</a:t>
            </a:r>
          </a:p>
          <a:p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연차현황 </a:t>
            </a:r>
            <a:r>
              <a:rPr lang="en-US" altLang="ko-KR" sz="1200" dirty="0">
                <a:latin typeface="+mn-ea"/>
              </a:rPr>
              <a:t>: [</a:t>
            </a:r>
            <a:r>
              <a:rPr lang="ko-KR" altLang="en-US" sz="1200" dirty="0">
                <a:latin typeface="+mn-ea"/>
              </a:rPr>
              <a:t>연차현황</a:t>
            </a:r>
            <a:r>
              <a:rPr lang="en-US" altLang="ko-KR" sz="1200" dirty="0">
                <a:latin typeface="+mn-ea"/>
              </a:rPr>
              <a:t>]</a:t>
            </a:r>
            <a:r>
              <a:rPr lang="ko-KR" altLang="en-US" sz="1200" dirty="0">
                <a:latin typeface="+mn-ea"/>
              </a:rPr>
              <a:t>으로 이동하여 결재</a:t>
            </a:r>
            <a:endParaRPr lang="en-US" altLang="ko-KR" sz="1200" dirty="0">
              <a:latin typeface="+mn-ea"/>
            </a:endParaRPr>
          </a:p>
          <a:p>
            <a:r>
              <a:rPr lang="ko-KR" altLang="en-US" sz="1200" dirty="0">
                <a:latin typeface="+mn-ea"/>
              </a:rPr>
              <a:t>               신청내역 확인</a:t>
            </a:r>
            <a:endParaRPr lang="en-US" altLang="ko-KR" sz="1200" dirty="0">
              <a:latin typeface="+mn-ea"/>
            </a:endParaRPr>
          </a:p>
          <a:p>
            <a:endParaRPr lang="ko-KR" altLang="en-US" sz="1200" dirty="0"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96136" y="4221088"/>
            <a:ext cx="28568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• [</a:t>
            </a:r>
            <a:r>
              <a:rPr lang="ko-KR" altLang="en-US" sz="1200" dirty="0">
                <a:latin typeface="+mn-ea"/>
              </a:rPr>
              <a:t>게시판</a:t>
            </a:r>
            <a:r>
              <a:rPr lang="en-US" altLang="ko-KR" sz="1200" dirty="0">
                <a:latin typeface="+mn-ea"/>
              </a:rPr>
              <a:t>]</a:t>
            </a:r>
            <a:r>
              <a:rPr lang="ko-KR" altLang="en-US" sz="1200" dirty="0">
                <a:latin typeface="+mn-ea"/>
              </a:rPr>
              <a:t>에 작성된 게시물 조회 가능 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게시물 </a:t>
            </a:r>
            <a:r>
              <a:rPr lang="ko-KR" altLang="en-US" sz="1200" dirty="0" err="1">
                <a:latin typeface="+mn-ea"/>
              </a:rPr>
              <a:t>선택시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, [</a:t>
            </a:r>
            <a:r>
              <a:rPr lang="ko-KR" altLang="en-US" sz="1200" dirty="0">
                <a:latin typeface="+mn-ea"/>
              </a:rPr>
              <a:t>게시판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메뉴로 이동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95936" y="3280166"/>
            <a:ext cx="1244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>
                <a:latin typeface="HY견고딕" pitchFamily="18" charset="-127"/>
                <a:ea typeface="HY견고딕" pitchFamily="18" charset="-127"/>
              </a:rPr>
              <a:t>[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빠른 실행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]</a:t>
            </a:r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29028" y="6021287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게시판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]</a:t>
            </a:r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8747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0" y="298800"/>
            <a:ext cx="2595600" cy="61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0" y="0"/>
            <a:ext cx="8975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2. 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메인화면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&gt;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대시보드                                                                                           </a:t>
            </a:r>
            <a:r>
              <a:rPr lang="ko-KR" altLang="en-US" sz="1050" dirty="0">
                <a:latin typeface="HY견고딕" pitchFamily="18" charset="-127"/>
                <a:ea typeface="HY견고딕" pitchFamily="18" charset="-127"/>
              </a:rPr>
              <a:t>로그인 후 최초화면</a:t>
            </a:r>
          </a:p>
        </p:txBody>
      </p:sp>
      <p:pic>
        <p:nvPicPr>
          <p:cNvPr id="1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187" y="836712"/>
            <a:ext cx="2137747" cy="23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5868144" y="1484784"/>
            <a:ext cx="2730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• </a:t>
            </a:r>
            <a:r>
              <a:rPr lang="ko-KR" altLang="en-US" sz="1200" dirty="0">
                <a:latin typeface="+mn-ea"/>
              </a:rPr>
              <a:t>접속일 기준 휴가자 명단 조회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661" y="3212976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 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휴가중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]</a:t>
            </a:r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0410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0" y="298800"/>
            <a:ext cx="2595600" cy="61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0"/>
            <a:ext cx="2082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2. 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메인화면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&gt;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접속정보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9872" y="307777"/>
            <a:ext cx="414087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우측 상단 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프로필 사진 선택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• </a:t>
            </a:r>
            <a:r>
              <a:rPr lang="ko-KR" altLang="en-US" sz="1400" dirty="0">
                <a:latin typeface="+mn-ea"/>
              </a:rPr>
              <a:t>비밀번호 변경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로그인한 계정의 </a:t>
            </a:r>
            <a:r>
              <a:rPr lang="en-US" altLang="ko-KR" sz="1400" dirty="0">
                <a:latin typeface="+mn-ea"/>
              </a:rPr>
              <a:t>PW </a:t>
            </a:r>
            <a:r>
              <a:rPr lang="ko-KR" altLang="en-US" sz="1400" dirty="0">
                <a:latin typeface="+mn-ea"/>
              </a:rPr>
              <a:t>변경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• </a:t>
            </a:r>
            <a:r>
              <a:rPr lang="ko-KR" altLang="en-US" sz="1400" dirty="0">
                <a:latin typeface="+mn-ea"/>
              </a:rPr>
              <a:t>로그아웃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로그아웃 후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로그인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화면으로 이동</a:t>
            </a:r>
          </a:p>
        </p:txBody>
      </p:sp>
    </p:spTree>
    <p:extLst>
      <p:ext uri="{BB962C8B-B14F-4D97-AF65-F5344CB8AC3E}">
        <p14:creationId xmlns:p14="http://schemas.microsoft.com/office/powerpoint/2010/main" val="2942778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0" y="298800"/>
            <a:ext cx="2595600" cy="61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0"/>
            <a:ext cx="2262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2. 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메인화면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&gt; 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슬라이드바</a:t>
            </a:r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19872" y="307777"/>
            <a:ext cx="387317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메뉴리스트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]</a:t>
            </a:r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+mn-ea"/>
              </a:rPr>
              <a:t>휴가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휴가 관련 메뉴로 이동</a:t>
            </a:r>
            <a:endParaRPr lang="en-US" altLang="ko-KR" sz="1400" dirty="0">
              <a:latin typeface="+mn-ea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+mn-ea"/>
              </a:rPr>
              <a:t>내 정보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내 인사정보 조회 메뉴로 이동</a:t>
            </a:r>
            <a:endParaRPr lang="en-US" altLang="ko-KR" sz="1400" dirty="0">
              <a:latin typeface="+mn-ea"/>
            </a:endParaRPr>
          </a:p>
          <a:p>
            <a:pPr marL="342900" indent="-342900">
              <a:buAutoNum type="arabicPeriod"/>
            </a:pPr>
            <a:r>
              <a:rPr lang="ko-KR" altLang="en-US" sz="1400" dirty="0" err="1">
                <a:latin typeface="+mn-ea"/>
              </a:rPr>
              <a:t>대시보드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 err="1">
                <a:latin typeface="+mn-ea"/>
              </a:rPr>
              <a:t>대시보드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 err="1">
                <a:latin typeface="+mn-ea"/>
              </a:rPr>
              <a:t>메인화면으로</a:t>
            </a:r>
            <a:r>
              <a:rPr lang="ko-KR" altLang="en-US" sz="1400" dirty="0">
                <a:latin typeface="+mn-ea"/>
              </a:rPr>
              <a:t> 이동</a:t>
            </a:r>
            <a:r>
              <a:rPr lang="en-US" altLang="ko-KR" sz="1400" dirty="0">
                <a:latin typeface="+mn-ea"/>
              </a:rPr>
              <a:t>)</a:t>
            </a: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+mn-ea"/>
              </a:rPr>
              <a:t>직원조회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직원리스트 조회화면으로 이동</a:t>
            </a:r>
            <a:endParaRPr lang="en-US" altLang="ko-KR" sz="1400" dirty="0">
              <a:latin typeface="+mn-ea"/>
            </a:endParaRPr>
          </a:p>
          <a:p>
            <a:pPr marL="342900" indent="-342900">
              <a:buAutoNum type="arabicPeriod"/>
            </a:pPr>
            <a:r>
              <a:rPr lang="ko-KR" altLang="en-US" sz="1400" dirty="0">
                <a:latin typeface="+mn-ea"/>
              </a:rPr>
              <a:t>게시판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게시글 작성화면으로 이동</a:t>
            </a: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42778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0" y="298800"/>
            <a:ext cx="2595600" cy="61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0" y="0"/>
            <a:ext cx="8892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3.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휴가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&gt;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연차신청                                                                        </a:t>
            </a:r>
            <a:r>
              <a:rPr lang="ko-KR" altLang="en-US" sz="1050" dirty="0" err="1">
                <a:latin typeface="HY견고딕" pitchFamily="18" charset="-127"/>
                <a:ea typeface="HY견고딕" pitchFamily="18" charset="-127"/>
              </a:rPr>
              <a:t>부여받은</a:t>
            </a:r>
            <a:r>
              <a:rPr lang="ko-KR" altLang="en-US" sz="1050" dirty="0">
                <a:latin typeface="HY견고딕" pitchFamily="18" charset="-127"/>
                <a:ea typeface="HY견고딕" pitchFamily="18" charset="-127"/>
              </a:rPr>
              <a:t> 연차 일수에 따라 연차를 신청하는 화면</a:t>
            </a:r>
            <a:endParaRPr lang="en-US" altLang="ko-KR" sz="1050" dirty="0">
              <a:latin typeface="HY견고딕" pitchFamily="18" charset="-127"/>
              <a:ea typeface="HY견고딕" pitchFamily="18" charset="-127"/>
            </a:endParaRPr>
          </a:p>
          <a:p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58" y="1700808"/>
            <a:ext cx="2448272" cy="45385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339521" y="284039"/>
            <a:ext cx="4697120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당일연차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및 반차 신청방법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]</a:t>
            </a:r>
          </a:p>
          <a:p>
            <a:r>
              <a:rPr lang="en-US" altLang="ko-KR" sz="1400" dirty="0">
                <a:latin typeface="+mn-ea"/>
                <a:cs typeface="맑은 고딕 Semilight" panose="020B0502040204020203" pitchFamily="50" charset="-127"/>
              </a:rPr>
              <a:t> 1.</a:t>
            </a:r>
            <a:r>
              <a:rPr lang="ko-KR" altLang="en-US" sz="1400" dirty="0">
                <a:latin typeface="+mn-ea"/>
              </a:rPr>
              <a:t> 연차 유형을 연차로 </a:t>
            </a:r>
            <a:r>
              <a:rPr lang="ko-KR" altLang="en-US" sz="1400" dirty="0" err="1">
                <a:latin typeface="+mn-ea"/>
              </a:rPr>
              <a:t>선택시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 err="1">
                <a:latin typeface="+mn-ea"/>
              </a:rPr>
              <a:t>연차잔여일수</a:t>
            </a:r>
            <a:r>
              <a:rPr lang="ko-KR" altLang="en-US" sz="1400" dirty="0">
                <a:latin typeface="+mn-ea"/>
              </a:rPr>
              <a:t> 자동 세팅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  <a:cs typeface="맑은 고딕 Semilight" panose="020B0502040204020203" pitchFamily="50" charset="-127"/>
              </a:rPr>
              <a:t> 2. </a:t>
            </a:r>
            <a:r>
              <a:rPr lang="ko-KR" altLang="en-US" sz="1400" dirty="0">
                <a:latin typeface="+mn-ea"/>
                <a:cs typeface="맑은 고딕 Semilight" panose="020B0502040204020203" pitchFamily="50" charset="-127"/>
              </a:rPr>
              <a:t>시작일과 종료일을 동일하게 지정 </a:t>
            </a:r>
            <a:endParaRPr lang="en-US" altLang="ko-KR" sz="1400" dirty="0">
              <a:latin typeface="+mn-ea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+mn-ea"/>
                <a:cs typeface="맑은 고딕 Semilight" panose="020B0502040204020203" pitchFamily="50" charset="-127"/>
              </a:rPr>
              <a:t> 3. </a:t>
            </a:r>
            <a:r>
              <a:rPr lang="ko-KR" altLang="en-US" sz="1400" dirty="0">
                <a:latin typeface="+mn-ea"/>
                <a:cs typeface="맑은 고딕 Semilight" panose="020B0502040204020203" pitchFamily="50" charset="-127"/>
              </a:rPr>
              <a:t>날짜가 같으면 유형 선택 리스트가 나타남</a:t>
            </a:r>
            <a:endParaRPr lang="en-US" altLang="ko-KR" sz="1400" dirty="0">
              <a:latin typeface="+mn-ea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+mn-ea"/>
                <a:cs typeface="맑은 고딕 Semilight" panose="020B0502040204020203" pitchFamily="50" charset="-127"/>
              </a:rPr>
              <a:t> 4. 3</a:t>
            </a:r>
            <a:r>
              <a:rPr lang="ko-KR" altLang="en-US" sz="1400" dirty="0">
                <a:latin typeface="+mn-ea"/>
                <a:cs typeface="맑은 고딕 Semilight" panose="020B0502040204020203" pitchFamily="50" charset="-127"/>
              </a:rPr>
              <a:t>가지 유형 중 본인의 스케줄에 맞춰 선택 진행</a:t>
            </a:r>
            <a:endParaRPr lang="en-US" altLang="ko-KR" sz="1400" dirty="0">
              <a:latin typeface="+mn-ea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+mn-ea"/>
                <a:cs typeface="맑은 고딕 Semilight" panose="020B0502040204020203" pitchFamily="50" charset="-127"/>
              </a:rPr>
              <a:t>     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  <a:cs typeface="맑은 고딕 Semilight" panose="020B0502040204020203" pitchFamily="50" charset="-127"/>
              </a:rPr>
              <a:t>Full Day (</a:t>
            </a:r>
            <a:r>
              <a:rPr lang="ko-KR" altLang="en-US" sz="1400" dirty="0">
                <a:latin typeface="+mn-ea"/>
                <a:cs typeface="맑은 고딕 Semilight" panose="020B0502040204020203" pitchFamily="50" charset="-127"/>
              </a:rPr>
              <a:t>기본값</a:t>
            </a:r>
            <a:r>
              <a:rPr lang="en-US" altLang="ko-KR" sz="1400" dirty="0">
                <a:latin typeface="+mn-ea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+mn-ea"/>
                <a:cs typeface="맑은 고딕 Semilight" panose="020B0502040204020203" pitchFamily="50" charset="-127"/>
              </a:rPr>
              <a:t>     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  <a:cs typeface="맑은 고딕 Semilight" panose="020B0502040204020203" pitchFamily="50" charset="-127"/>
              </a:rPr>
              <a:t>오전반차 </a:t>
            </a:r>
            <a:endParaRPr lang="en-US" altLang="ko-KR" sz="1400" dirty="0">
              <a:latin typeface="+mn-ea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+mn-ea"/>
                <a:cs typeface="맑은 고딕 Semilight" panose="020B0502040204020203" pitchFamily="50" charset="-127"/>
              </a:rPr>
              <a:t>     </a:t>
            </a:r>
            <a:r>
              <a:rPr lang="en-US" altLang="ko-KR" sz="1400" b="1" dirty="0">
                <a:latin typeface="+mn-ea"/>
              </a:rPr>
              <a:t>•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  <a:cs typeface="맑은 고딕 Semilight" panose="020B0502040204020203" pitchFamily="50" charset="-127"/>
              </a:rPr>
              <a:t>오후반차</a:t>
            </a:r>
            <a:endParaRPr lang="en-US" altLang="ko-KR" sz="1400" dirty="0">
              <a:latin typeface="+mn-ea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+mn-ea"/>
                <a:cs typeface="맑은 고딕 Semilight" panose="020B0502040204020203" pitchFamily="50" charset="-127"/>
              </a:rPr>
              <a:t>   ( ※</a:t>
            </a:r>
            <a:r>
              <a:rPr lang="ko-KR" altLang="en-US" sz="1400" dirty="0">
                <a:latin typeface="+mn-ea"/>
                <a:cs typeface="맑은 고딕 Semilight" panose="020B0502040204020203" pitchFamily="50" charset="-127"/>
              </a:rPr>
              <a:t>시간지정은 선택제외 </a:t>
            </a:r>
            <a:r>
              <a:rPr lang="en-US" altLang="ko-KR" sz="1400" dirty="0">
                <a:latin typeface="+mn-ea"/>
                <a:cs typeface="맑은 고딕 Semilight" panose="020B0502040204020203" pitchFamily="50" charset="-127"/>
              </a:rPr>
              <a:t>) </a:t>
            </a:r>
          </a:p>
          <a:p>
            <a:pPr lvl="1"/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  <a:cs typeface="맑은 고딕 Semilight" panose="020B0502040204020203" pitchFamily="50" charset="-127"/>
            </a:endParaRPr>
          </a:p>
          <a:p>
            <a:pPr lvl="1"/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  <a:cs typeface="맑은 고딕 Semilight" panose="020B0502040204020203" pitchFamily="50" charset="-127"/>
            </a:endParaRPr>
          </a:p>
          <a:p>
            <a:pPr lvl="1"/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  <a:cs typeface="맑은 고딕 Semilight" panose="020B0502040204020203" pitchFamily="50" charset="-127"/>
            </a:endParaRPr>
          </a:p>
          <a:p>
            <a:pPr lvl="1"/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  <a:cs typeface="맑은 고딕 Semilight" panose="020B0502040204020203" pitchFamily="50" charset="-127"/>
            </a:endParaRPr>
          </a:p>
          <a:p>
            <a:pPr lvl="1"/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                 </a:t>
            </a:r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228166" y="3190830"/>
            <a:ext cx="2324274" cy="1168077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6237294" y="4370069"/>
            <a:ext cx="2304256" cy="1296144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xmlns="" id="{6B4AC236-7864-F5ED-7556-1F429021DAEF}"/>
              </a:ext>
            </a:extLst>
          </p:cNvPr>
          <p:cNvSpPr/>
          <p:nvPr/>
        </p:nvSpPr>
        <p:spPr>
          <a:xfrm>
            <a:off x="6066588" y="3160837"/>
            <a:ext cx="144016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xmlns="" id="{D7383472-9EB1-7D02-83E2-A04C47C1EC21}"/>
              </a:ext>
            </a:extLst>
          </p:cNvPr>
          <p:cNvSpPr/>
          <p:nvPr/>
        </p:nvSpPr>
        <p:spPr>
          <a:xfrm>
            <a:off x="6084150" y="4358907"/>
            <a:ext cx="144016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995B2F40-9D15-E6CE-577B-4AF800B7F640}"/>
              </a:ext>
            </a:extLst>
          </p:cNvPr>
          <p:cNvSpPr/>
          <p:nvPr/>
        </p:nvSpPr>
        <p:spPr>
          <a:xfrm>
            <a:off x="6210604" y="2144445"/>
            <a:ext cx="2324274" cy="1035223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xmlns="" id="{F8B486AB-4AC3-E7FD-8070-E43EAF38575A}"/>
              </a:ext>
            </a:extLst>
          </p:cNvPr>
          <p:cNvSpPr/>
          <p:nvPr/>
        </p:nvSpPr>
        <p:spPr>
          <a:xfrm>
            <a:off x="6021644" y="2126685"/>
            <a:ext cx="144016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xmlns="" id="{B4085493-ECF2-C0E6-8D87-2226F46ED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392" y="3738177"/>
            <a:ext cx="1728192" cy="22436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xmlns="" id="{A3B3B321-A378-EC9A-6287-A99BBC2757F4}"/>
              </a:ext>
            </a:extLst>
          </p:cNvPr>
          <p:cNvCxnSpPr>
            <a:cxnSpLocks/>
          </p:cNvCxnSpPr>
          <p:nvPr/>
        </p:nvCxnSpPr>
        <p:spPr>
          <a:xfrm rot="10800000" flipV="1">
            <a:off x="5652120" y="4141811"/>
            <a:ext cx="2520280" cy="361109"/>
          </a:xfrm>
          <a:prstGeom prst="curvedConnector3">
            <a:avLst>
              <a:gd name="adj1" fmla="val 8703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2958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0" y="298800"/>
            <a:ext cx="2595600" cy="61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0"/>
            <a:ext cx="8820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3.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휴가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&gt;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연차신청                                                                         </a:t>
            </a:r>
            <a:r>
              <a:rPr lang="ko-KR" altLang="en-US" sz="1050" dirty="0" err="1">
                <a:latin typeface="HY견고딕" pitchFamily="18" charset="-127"/>
                <a:ea typeface="HY견고딕" pitchFamily="18" charset="-127"/>
              </a:rPr>
              <a:t>부여받은</a:t>
            </a:r>
            <a:r>
              <a:rPr lang="ko-KR" altLang="en-US" sz="1000" dirty="0">
                <a:latin typeface="HY견고딕" pitchFamily="18" charset="-127"/>
                <a:ea typeface="HY견고딕" pitchFamily="18" charset="-127"/>
              </a:rPr>
              <a:t> 연차 일수에 따라 연차를 신청하는 화면</a:t>
            </a:r>
            <a:endParaRPr lang="en-US" altLang="ko-KR" sz="1000" dirty="0">
              <a:latin typeface="HY견고딕" pitchFamily="18" charset="-127"/>
              <a:ea typeface="HY견고딕" pitchFamily="18" charset="-127"/>
            </a:endParaRPr>
          </a:p>
          <a:p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9872" y="307777"/>
            <a:ext cx="59766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[1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일 초과 연차사용 방법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]</a:t>
            </a:r>
          </a:p>
          <a:p>
            <a:r>
              <a:rPr lang="en-US" altLang="ko-KR" sz="1400" dirty="0">
                <a:latin typeface="+mn-ea"/>
              </a:rPr>
              <a:t>1. </a:t>
            </a:r>
            <a:r>
              <a:rPr lang="ko-KR" altLang="en-US" sz="1400" dirty="0">
                <a:latin typeface="+mn-ea"/>
              </a:rPr>
              <a:t>연차 유형을 </a:t>
            </a:r>
            <a:r>
              <a:rPr lang="en-US" altLang="ko-KR" sz="1400" dirty="0">
                <a:latin typeface="+mn-ea"/>
              </a:rPr>
              <a:t>‘</a:t>
            </a:r>
            <a:r>
              <a:rPr lang="ko-KR" altLang="en-US" sz="1400" dirty="0">
                <a:latin typeface="+mn-ea"/>
              </a:rPr>
              <a:t>연차</a:t>
            </a:r>
            <a:r>
              <a:rPr lang="en-US" altLang="ko-KR" sz="1400" dirty="0">
                <a:latin typeface="+mn-ea"/>
              </a:rPr>
              <a:t>’</a:t>
            </a:r>
            <a:r>
              <a:rPr lang="ko-KR" altLang="en-US" sz="1400" dirty="0">
                <a:latin typeface="+mn-ea"/>
              </a:rPr>
              <a:t>로 선택 시 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연차 잔여일수 자동 세팅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2. </a:t>
            </a:r>
            <a:r>
              <a:rPr lang="ko-KR" altLang="en-US" sz="1400" dirty="0">
                <a:latin typeface="+mn-ea"/>
              </a:rPr>
              <a:t>시작일과 종료일을 </a:t>
            </a:r>
            <a:r>
              <a:rPr lang="en-US" altLang="ko-KR" sz="1400" dirty="0">
                <a:latin typeface="+mn-ea"/>
              </a:rPr>
              <a:t>1</a:t>
            </a:r>
            <a:r>
              <a:rPr lang="ko-KR" altLang="en-US" sz="1400" dirty="0">
                <a:latin typeface="+mn-ea"/>
              </a:rPr>
              <a:t>일 초과로 선택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3. 1</a:t>
            </a:r>
            <a:r>
              <a:rPr lang="ko-KR" altLang="en-US" sz="1400" dirty="0">
                <a:latin typeface="+mn-ea"/>
              </a:rPr>
              <a:t>일 초과 지정 시 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부분일수 선택 리스트가 나타남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4. </a:t>
            </a:r>
            <a:r>
              <a:rPr lang="ko-KR" altLang="en-US" sz="1400" dirty="0">
                <a:latin typeface="+mn-ea"/>
              </a:rPr>
              <a:t>부분일수 옵션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모든 요일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시작일만</a:t>
            </a:r>
            <a:r>
              <a:rPr lang="en-US" altLang="ko-KR" sz="1400" dirty="0">
                <a:latin typeface="+mn-ea"/>
              </a:rPr>
              <a:t>/ </a:t>
            </a:r>
            <a:r>
              <a:rPr lang="ko-KR" altLang="en-US" sz="1400" dirty="0">
                <a:latin typeface="+mn-ea"/>
              </a:rPr>
              <a:t>종료일만</a:t>
            </a:r>
            <a:r>
              <a:rPr lang="en-US" altLang="ko-KR" sz="1400" dirty="0">
                <a:latin typeface="+mn-ea"/>
              </a:rPr>
              <a:t>/</a:t>
            </a:r>
            <a:r>
              <a:rPr lang="ko-KR" altLang="en-US" sz="1400" dirty="0">
                <a:latin typeface="+mn-ea"/>
              </a:rPr>
              <a:t>시작일과 종료일</a:t>
            </a:r>
            <a:r>
              <a:rPr lang="en-US" altLang="ko-KR" sz="1400" dirty="0">
                <a:latin typeface="+mn-ea"/>
              </a:rPr>
              <a:t>)</a:t>
            </a:r>
          </a:p>
          <a:p>
            <a:r>
              <a:rPr lang="en-US" altLang="ko-KR" sz="1400" dirty="0">
                <a:latin typeface="+mn-ea"/>
              </a:rPr>
              <a:t>    </a:t>
            </a:r>
            <a:r>
              <a:rPr lang="ko-KR" altLang="en-US" sz="1400" dirty="0">
                <a:latin typeface="+mn-ea"/>
              </a:rPr>
              <a:t>선택 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해당 일수에 맞는 유형 지정 후 신청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ex : 26.05.01~26.05.08 </a:t>
            </a:r>
            <a:r>
              <a:rPr lang="ko-KR" altLang="en-US" sz="1400" dirty="0">
                <a:latin typeface="+mn-ea"/>
              </a:rPr>
              <a:t>신청 </a:t>
            </a:r>
            <a:r>
              <a:rPr lang="en-US" altLang="ko-KR" sz="1400" dirty="0">
                <a:latin typeface="+mn-ea"/>
              </a:rPr>
              <a:t>( 5Days </a:t>
            </a:r>
            <a:r>
              <a:rPr lang="ko-KR" altLang="en-US" sz="1400" dirty="0">
                <a:latin typeface="+mn-ea"/>
              </a:rPr>
              <a:t>감산</a:t>
            </a:r>
            <a:r>
              <a:rPr lang="en-US" altLang="ko-KR" sz="1400" dirty="0">
                <a:latin typeface="+mn-ea"/>
              </a:rPr>
              <a:t>)</a:t>
            </a:r>
          </a:p>
          <a:p>
            <a:endParaRPr lang="en-US" altLang="ko-KR" sz="1400" dirty="0">
              <a:latin typeface="+mn-ea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00" y="2007296"/>
            <a:ext cx="2160240" cy="410555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3603600" y="2293063"/>
            <a:ext cx="2160240" cy="847906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591892" y="4159156"/>
            <a:ext cx="2168388" cy="465889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xmlns="" id="{E786B2AE-D1F3-4F11-189C-0703C4AAA24F}"/>
              </a:ext>
            </a:extLst>
          </p:cNvPr>
          <p:cNvSpPr/>
          <p:nvPr/>
        </p:nvSpPr>
        <p:spPr>
          <a:xfrm>
            <a:off x="3447876" y="2292566"/>
            <a:ext cx="144016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xmlns="" id="{DBBA67E2-3396-4275-A48C-BE3434E63884}"/>
              </a:ext>
            </a:extLst>
          </p:cNvPr>
          <p:cNvSpPr/>
          <p:nvPr/>
        </p:nvSpPr>
        <p:spPr>
          <a:xfrm>
            <a:off x="3419872" y="4087148"/>
            <a:ext cx="144016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3</a:t>
            </a:r>
            <a:endParaRPr lang="ko-KR" altLang="en-US" sz="1000" dirty="0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xmlns="" id="{0966AAD4-1CE0-31A6-1E1C-84DD50465D67}"/>
              </a:ext>
            </a:extLst>
          </p:cNvPr>
          <p:cNvCxnSpPr>
            <a:cxnSpLocks/>
            <a:stCxn id="10" idx="3"/>
            <a:endCxn id="31" idx="3"/>
          </p:cNvCxnSpPr>
          <p:nvPr/>
        </p:nvCxnSpPr>
        <p:spPr>
          <a:xfrm>
            <a:off x="5760280" y="4392101"/>
            <a:ext cx="20030" cy="1002121"/>
          </a:xfrm>
          <a:prstGeom prst="curvedConnector3">
            <a:avLst>
              <a:gd name="adj1" fmla="val 1241288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D6C9DC23-DB02-473C-B060-A498EF8A72BC}"/>
              </a:ext>
            </a:extLst>
          </p:cNvPr>
          <p:cNvSpPr/>
          <p:nvPr/>
        </p:nvSpPr>
        <p:spPr>
          <a:xfrm>
            <a:off x="3611922" y="4679323"/>
            <a:ext cx="2168388" cy="142979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xmlns="" id="{50C0E9D0-7570-1C89-8ED2-9DCA175520B1}"/>
              </a:ext>
            </a:extLst>
          </p:cNvPr>
          <p:cNvSpPr/>
          <p:nvPr/>
        </p:nvSpPr>
        <p:spPr>
          <a:xfrm>
            <a:off x="3439728" y="4625045"/>
            <a:ext cx="144016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942778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8932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3.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휴가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&gt;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내 연차                                                                                         </a:t>
            </a:r>
            <a:r>
              <a:rPr lang="ko-KR" altLang="en-US" sz="1050" dirty="0">
                <a:latin typeface="HY견고딕" pitchFamily="18" charset="-127"/>
                <a:ea typeface="HY견고딕" pitchFamily="18" charset="-127"/>
              </a:rPr>
              <a:t>내가 신청한 연차에 대한 상태 조회</a:t>
            </a:r>
            <a:endParaRPr lang="en-US" altLang="ko-KR" sz="1050" dirty="0">
              <a:latin typeface="HY견고딕" pitchFamily="18" charset="-127"/>
              <a:ea typeface="HY견고딕" pitchFamily="18" charset="-127"/>
            </a:endParaRPr>
          </a:p>
          <a:p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19872" y="307777"/>
            <a:ext cx="5588389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연차 상태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]</a:t>
            </a:r>
          </a:p>
          <a:p>
            <a:r>
              <a:rPr lang="en-US" altLang="ko-KR" sz="1400" b="1" dirty="0">
                <a:latin typeface="+mn-ea"/>
              </a:rPr>
              <a:t>• </a:t>
            </a:r>
            <a:r>
              <a:rPr lang="en-US" altLang="ko-KR" sz="1400" dirty="0">
                <a:latin typeface="+mn-ea"/>
              </a:rPr>
              <a:t>Pending Approval : </a:t>
            </a:r>
            <a:r>
              <a:rPr lang="ko-KR" altLang="en-US" sz="1400" dirty="0">
                <a:latin typeface="+mn-ea"/>
              </a:rPr>
              <a:t>결재 </a:t>
            </a:r>
            <a:r>
              <a:rPr lang="ko-KR" altLang="en-US" sz="1400" dirty="0" err="1">
                <a:latin typeface="+mn-ea"/>
              </a:rPr>
              <a:t>진행중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b="1" dirty="0">
                <a:latin typeface="+mn-ea"/>
              </a:rPr>
              <a:t>• </a:t>
            </a:r>
            <a:r>
              <a:rPr lang="en-US" altLang="ko-KR" sz="1400" dirty="0">
                <a:latin typeface="+mn-ea"/>
              </a:rPr>
              <a:t>Rejected : </a:t>
            </a:r>
            <a:r>
              <a:rPr lang="ko-KR" altLang="en-US" sz="1400" dirty="0">
                <a:latin typeface="+mn-ea"/>
              </a:rPr>
              <a:t>반려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b="1" dirty="0">
                <a:latin typeface="+mn-ea"/>
              </a:rPr>
              <a:t>• </a:t>
            </a:r>
            <a:r>
              <a:rPr lang="en-US" altLang="ko-KR" sz="1400" dirty="0">
                <a:latin typeface="+mn-ea"/>
              </a:rPr>
              <a:t>Cancelled : </a:t>
            </a:r>
            <a:r>
              <a:rPr lang="ko-KR" altLang="en-US" sz="1400" dirty="0">
                <a:latin typeface="+mn-ea"/>
              </a:rPr>
              <a:t>취소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b="1" dirty="0">
                <a:latin typeface="+mn-ea"/>
              </a:rPr>
              <a:t>• </a:t>
            </a:r>
            <a:r>
              <a:rPr lang="en-US" altLang="ko-KR" sz="1400" dirty="0">
                <a:latin typeface="+mn-ea"/>
              </a:rPr>
              <a:t>Scheduled : </a:t>
            </a:r>
            <a:r>
              <a:rPr lang="ko-KR" altLang="en-US" sz="1400" dirty="0">
                <a:latin typeface="+mn-ea"/>
              </a:rPr>
              <a:t>예정됨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b="1" dirty="0">
                <a:latin typeface="+mn-ea"/>
              </a:rPr>
              <a:t>• </a:t>
            </a:r>
            <a:r>
              <a:rPr lang="en-US" altLang="ko-KR" sz="1400" dirty="0">
                <a:latin typeface="+mn-ea"/>
              </a:rPr>
              <a:t>Taken : </a:t>
            </a:r>
            <a:r>
              <a:rPr lang="ko-KR" altLang="en-US" sz="1400" dirty="0">
                <a:latin typeface="+mn-ea"/>
              </a:rPr>
              <a:t>사용완료</a:t>
            </a:r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※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인사정보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-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결재권자에 설정된 결재라인에 따라 승인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반려가 결정</a:t>
            </a:r>
            <a:endParaRPr lang="en-US" altLang="ko-KR" sz="1400" dirty="0">
              <a:solidFill>
                <a:srgbClr val="FF0000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    결재권자가 설정되어 있지 않을 경우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본인 자가결재 자동 진행 </a:t>
            </a:r>
            <a:endParaRPr lang="en-US" altLang="ko-KR" sz="1400" dirty="0">
              <a:solidFill>
                <a:srgbClr val="FF0000"/>
              </a:solidFill>
              <a:latin typeface="+mn-ea"/>
            </a:endParaRPr>
          </a:p>
          <a:p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425" y="303004"/>
            <a:ext cx="2595535" cy="61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720945" y="2861645"/>
            <a:ext cx="313954" cy="720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20945" y="4849406"/>
            <a:ext cx="313954" cy="720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870877"/>
            <a:ext cx="2944996" cy="668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3923928" y="3750271"/>
            <a:ext cx="648072" cy="3600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신청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5000382" y="3751827"/>
            <a:ext cx="648072" cy="3600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결재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진행중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076836" y="3753383"/>
            <a:ext cx="648072" cy="3600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승인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076836" y="4509120"/>
            <a:ext cx="648072" cy="3600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반려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7308304" y="3402608"/>
            <a:ext cx="648072" cy="3600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취소</a:t>
            </a:r>
          </a:p>
        </p:txBody>
      </p:sp>
      <p:cxnSp>
        <p:nvCxnSpPr>
          <p:cNvPr id="20" name="직선 화살표 연결선 19"/>
          <p:cNvCxnSpPr>
            <a:stCxn id="9" idx="3"/>
            <a:endCxn id="13" idx="1"/>
          </p:cNvCxnSpPr>
          <p:nvPr/>
        </p:nvCxnSpPr>
        <p:spPr>
          <a:xfrm>
            <a:off x="4572000" y="3930291"/>
            <a:ext cx="428382" cy="1556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13" idx="3"/>
            <a:endCxn id="14" idx="1"/>
          </p:cNvCxnSpPr>
          <p:nvPr/>
        </p:nvCxnSpPr>
        <p:spPr>
          <a:xfrm>
            <a:off x="5648454" y="3931847"/>
            <a:ext cx="428382" cy="1556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꺾인 연결선 30"/>
          <p:cNvCxnSpPr>
            <a:stCxn id="13" idx="2"/>
            <a:endCxn id="15" idx="1"/>
          </p:cNvCxnSpPr>
          <p:nvPr/>
        </p:nvCxnSpPr>
        <p:spPr>
          <a:xfrm rot="16200000" flipH="1">
            <a:off x="5411991" y="4024294"/>
            <a:ext cx="577273" cy="752418"/>
          </a:xfrm>
          <a:prstGeom prst="bentConnector2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7308303" y="3948701"/>
            <a:ext cx="648072" cy="3600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예정됨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7308302" y="4494794"/>
            <a:ext cx="648072" cy="3600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사용</a:t>
            </a:r>
            <a:r>
              <a:rPr lang="en-US" altLang="ko-KR" sz="1100" dirty="0">
                <a:solidFill>
                  <a:schemeClr val="tx1"/>
                </a:solidFill>
              </a:rPr>
              <a:t/>
            </a:r>
            <a:br>
              <a:rPr lang="en-US" altLang="ko-KR" sz="1100" dirty="0">
                <a:solidFill>
                  <a:schemeClr val="tx1"/>
                </a:solidFill>
              </a:rPr>
            </a:br>
            <a:r>
              <a:rPr lang="ko-KR" altLang="en-US" sz="1100" dirty="0">
                <a:solidFill>
                  <a:schemeClr val="tx1"/>
                </a:solidFill>
              </a:rPr>
              <a:t>완료</a:t>
            </a:r>
          </a:p>
        </p:txBody>
      </p:sp>
      <p:cxnSp>
        <p:nvCxnSpPr>
          <p:cNvPr id="38" name="꺾인 연결선 37"/>
          <p:cNvCxnSpPr>
            <a:stCxn id="14" idx="3"/>
            <a:endCxn id="22" idx="1"/>
          </p:cNvCxnSpPr>
          <p:nvPr/>
        </p:nvCxnSpPr>
        <p:spPr>
          <a:xfrm flipV="1">
            <a:off x="6724908" y="3582628"/>
            <a:ext cx="583396" cy="350775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>
            <a:stCxn id="14" idx="3"/>
            <a:endCxn id="36" idx="1"/>
          </p:cNvCxnSpPr>
          <p:nvPr/>
        </p:nvCxnSpPr>
        <p:spPr>
          <a:xfrm>
            <a:off x="6724908" y="3933403"/>
            <a:ext cx="583395" cy="195318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stCxn id="14" idx="3"/>
            <a:endCxn id="37" idx="1"/>
          </p:cNvCxnSpPr>
          <p:nvPr/>
        </p:nvCxnSpPr>
        <p:spPr>
          <a:xfrm>
            <a:off x="6724908" y="3933403"/>
            <a:ext cx="583394" cy="74141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778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0" y="298800"/>
            <a:ext cx="2595600" cy="61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-8977"/>
            <a:ext cx="9010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3.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휴가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&gt;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연차 지급 내역                                                                                </a:t>
            </a:r>
            <a:r>
              <a:rPr lang="ko-KR" altLang="en-US" sz="1050" dirty="0">
                <a:latin typeface="HY견고딕" pitchFamily="18" charset="-127"/>
                <a:ea typeface="HY견고딕" pitchFamily="18" charset="-127"/>
              </a:rPr>
              <a:t>연차기수에 따른 총 연차개수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9872" y="307777"/>
            <a:ext cx="514596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[</a:t>
            </a: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내 연차 정보 조회 방법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]</a:t>
            </a:r>
          </a:p>
          <a:p>
            <a:r>
              <a:rPr lang="en-US" altLang="ko-KR" sz="1400" dirty="0">
                <a:latin typeface="+mn-ea"/>
              </a:rPr>
              <a:t>1. </a:t>
            </a:r>
            <a:r>
              <a:rPr lang="ko-KR" altLang="en-US" sz="1400" dirty="0">
                <a:latin typeface="+mn-ea"/>
              </a:rPr>
              <a:t>내 연차일수 </a:t>
            </a:r>
            <a:r>
              <a:rPr lang="ko-KR" altLang="en-US" sz="1400" dirty="0" err="1">
                <a:latin typeface="+mn-ea"/>
              </a:rPr>
              <a:t>선택후</a:t>
            </a:r>
            <a:r>
              <a:rPr lang="ko-KR" altLang="en-US" sz="1400" dirty="0">
                <a:latin typeface="+mn-ea"/>
              </a:rPr>
              <a:t> 연차 유형 </a:t>
            </a:r>
            <a:r>
              <a:rPr lang="en-US" altLang="ko-KR" sz="1400" dirty="0">
                <a:latin typeface="+mn-ea"/>
              </a:rPr>
              <a:t>/ </a:t>
            </a:r>
            <a:r>
              <a:rPr lang="ko-KR" altLang="en-US" sz="1400" dirty="0">
                <a:latin typeface="+mn-ea"/>
              </a:rPr>
              <a:t>연차 기수 설정 선택가능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2. </a:t>
            </a:r>
            <a:r>
              <a:rPr lang="ko-KR" altLang="en-US" sz="1400" dirty="0">
                <a:latin typeface="+mn-ea"/>
              </a:rPr>
              <a:t>검색 시 선택한 조건에 의한 부여 받은 연차의 총 개수 조회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(ex : 2026.01.01~2026.12.31 : 18</a:t>
            </a:r>
            <a:r>
              <a:rPr lang="ko-KR" altLang="en-US" sz="1400" dirty="0">
                <a:latin typeface="+mn-ea"/>
              </a:rPr>
              <a:t>개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  2027.01.01~2027.12.31 :  0</a:t>
            </a:r>
            <a:r>
              <a:rPr lang="ko-KR" altLang="en-US" sz="1400" dirty="0">
                <a:latin typeface="+mn-ea"/>
              </a:rPr>
              <a:t>개 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CCB925FD-C8D4-67D3-1B9B-39D6C7D87A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98" b="9051"/>
          <a:stretch>
            <a:fillRect/>
          </a:stretch>
        </p:blipFill>
        <p:spPr>
          <a:xfrm>
            <a:off x="3646627" y="1556792"/>
            <a:ext cx="2440802" cy="448916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F93E69A7-22A7-A30D-5234-1C3764B30E42}"/>
              </a:ext>
            </a:extLst>
          </p:cNvPr>
          <p:cNvSpPr/>
          <p:nvPr/>
        </p:nvSpPr>
        <p:spPr>
          <a:xfrm>
            <a:off x="3786908" y="2276872"/>
            <a:ext cx="2160240" cy="1584176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xmlns="" id="{10C52EEC-DE96-92E1-C668-CFDC7E550B3B}"/>
              </a:ext>
            </a:extLst>
          </p:cNvPr>
          <p:cNvSpPr/>
          <p:nvPr/>
        </p:nvSpPr>
        <p:spPr>
          <a:xfrm>
            <a:off x="3636888" y="2267744"/>
            <a:ext cx="144016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94277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015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3.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휴가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&gt;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내 연차 사용현황 보고서                                                                      </a:t>
            </a:r>
            <a:r>
              <a:rPr lang="ko-KR" altLang="en-US" sz="1050" dirty="0">
                <a:latin typeface="HY견고딕" pitchFamily="18" charset="-127"/>
                <a:ea typeface="HY견고딕" pitchFamily="18" charset="-127"/>
              </a:rPr>
              <a:t>조회조건에 따른 연차현황</a:t>
            </a:r>
            <a:r>
              <a:rPr lang="en-US" altLang="ko-KR" sz="105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1050" dirty="0">
                <a:latin typeface="HY견고딕" pitchFamily="18" charset="-127"/>
                <a:ea typeface="HY견고딕" pitchFamily="18" charset="-127"/>
              </a:rPr>
              <a:t>표기</a:t>
            </a:r>
            <a:endParaRPr lang="en-US" altLang="ko-KR" sz="1050" dirty="0">
              <a:latin typeface="HY견고딕" pitchFamily="18" charset="-127"/>
              <a:ea typeface="HY견고딕" pitchFamily="18" charset="-127"/>
            </a:endParaRPr>
          </a:p>
          <a:p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46" y="315497"/>
            <a:ext cx="2598914" cy="61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419872" y="307777"/>
            <a:ext cx="53285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[</a:t>
            </a: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내 연차 사용현황 조회</a:t>
            </a: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]</a:t>
            </a:r>
          </a:p>
          <a:p>
            <a:r>
              <a:rPr lang="en-US" altLang="ko-KR" sz="1400" dirty="0">
                <a:latin typeface="+mn-ea"/>
              </a:rPr>
              <a:t>1. </a:t>
            </a:r>
            <a:r>
              <a:rPr lang="ko-KR" altLang="en-US" sz="1400" dirty="0">
                <a:latin typeface="+mn-ea"/>
              </a:rPr>
              <a:t>내 연차사용현황 보고서 선택 후 연차기수 선택 가능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2. </a:t>
            </a:r>
            <a:r>
              <a:rPr lang="ko-KR" altLang="en-US" sz="1400" dirty="0">
                <a:latin typeface="+mn-ea"/>
              </a:rPr>
              <a:t>연차 유형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연차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</a:t>
            </a:r>
            <a:r>
              <a:rPr lang="ko-KR" altLang="en-US" sz="1400" dirty="0">
                <a:latin typeface="+mn-ea"/>
              </a:rPr>
              <a:t>연차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 err="1">
                <a:latin typeface="+mn-ea"/>
              </a:rPr>
              <a:t>부여받은</a:t>
            </a:r>
            <a:r>
              <a:rPr lang="ko-KR" altLang="en-US" sz="1400" dirty="0">
                <a:latin typeface="+mn-ea"/>
              </a:rPr>
              <a:t> 연차의 개수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</a:t>
            </a:r>
            <a:r>
              <a:rPr lang="ko-KR" altLang="en-US" sz="1400" dirty="0" err="1">
                <a:latin typeface="+mn-ea"/>
              </a:rPr>
              <a:t>결재진행중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결재진행중인 연차의 개수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</a:t>
            </a:r>
            <a:r>
              <a:rPr lang="ko-KR" altLang="en-US" sz="1400" dirty="0">
                <a:latin typeface="+mn-ea"/>
              </a:rPr>
              <a:t>연차예정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승인되었고 사용 예정인 연차의 개수</a:t>
            </a:r>
            <a:r>
              <a:rPr lang="en-US" altLang="ko-KR" sz="1400" dirty="0">
                <a:latin typeface="+mn-ea"/>
              </a:rPr>
              <a:t> </a:t>
            </a:r>
          </a:p>
          <a:p>
            <a:r>
              <a:rPr lang="en-US" altLang="ko-KR" sz="1400" dirty="0">
                <a:latin typeface="+mn-ea"/>
              </a:rPr>
              <a:t>   </a:t>
            </a:r>
            <a:r>
              <a:rPr lang="ko-KR" altLang="en-US" sz="1400" dirty="0">
                <a:latin typeface="+mn-ea"/>
              </a:rPr>
              <a:t>연차사용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승인되었고 사용 완료된 연차의 개수</a:t>
            </a:r>
            <a:r>
              <a:rPr lang="en-US" altLang="ko-KR" sz="1400" dirty="0">
                <a:latin typeface="+mn-ea"/>
              </a:rPr>
              <a:t> </a:t>
            </a:r>
          </a:p>
          <a:p>
            <a:r>
              <a:rPr lang="en-US" altLang="ko-KR" sz="1400" dirty="0">
                <a:latin typeface="+mn-ea"/>
              </a:rPr>
              <a:t>   </a:t>
            </a:r>
            <a:r>
              <a:rPr lang="ko-KR" altLang="en-US" sz="1400" dirty="0" err="1">
                <a:latin typeface="+mn-ea"/>
              </a:rPr>
              <a:t>연차잔여일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최종 연차 잔여일</a:t>
            </a:r>
            <a:r>
              <a:rPr lang="en-US" altLang="ko-KR" sz="1400" dirty="0">
                <a:latin typeface="+mn-ea"/>
              </a:rPr>
              <a:t>(=</a:t>
            </a:r>
            <a:r>
              <a:rPr lang="ko-KR" altLang="en-US" sz="1400" dirty="0">
                <a:latin typeface="+mn-ea"/>
              </a:rPr>
              <a:t>연차신청가능일</a:t>
            </a:r>
            <a:r>
              <a:rPr lang="en-US" altLang="ko-KR" sz="1400" dirty="0">
                <a:latin typeface="+mn-ea"/>
              </a:rPr>
              <a:t>)</a:t>
            </a:r>
            <a:endParaRPr lang="ko-KR" altLang="en-US" sz="1400" dirty="0">
              <a:latin typeface="+mn-ea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501008"/>
            <a:ext cx="7899116" cy="16004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851920" y="5101446"/>
            <a:ext cx="10951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 PC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버전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]</a:t>
            </a:r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8D4522B5-65E3-1938-08D2-2B90D20AA29D}"/>
              </a:ext>
            </a:extLst>
          </p:cNvPr>
          <p:cNvSpPr/>
          <p:nvPr/>
        </p:nvSpPr>
        <p:spPr>
          <a:xfrm>
            <a:off x="755576" y="4517251"/>
            <a:ext cx="7776864" cy="423917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BB44DBD1-0E84-0DF6-594B-D4BDD3DB03C3}"/>
              </a:ext>
            </a:extLst>
          </p:cNvPr>
          <p:cNvSpPr/>
          <p:nvPr/>
        </p:nvSpPr>
        <p:spPr>
          <a:xfrm>
            <a:off x="755576" y="3573016"/>
            <a:ext cx="7704856" cy="528449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xmlns="" id="{5A3D8183-FDB2-C8CB-D634-EDEF247F6ADA}"/>
              </a:ext>
            </a:extLst>
          </p:cNvPr>
          <p:cNvSpPr/>
          <p:nvPr/>
        </p:nvSpPr>
        <p:spPr>
          <a:xfrm>
            <a:off x="611560" y="3573016"/>
            <a:ext cx="144016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xmlns="" id="{110CA7DA-5680-2B7B-1A43-8D3BE4CBC0F7}"/>
              </a:ext>
            </a:extLst>
          </p:cNvPr>
          <p:cNvSpPr/>
          <p:nvPr/>
        </p:nvSpPr>
        <p:spPr>
          <a:xfrm>
            <a:off x="611560" y="4445243"/>
            <a:ext cx="144016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186442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8927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3.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휴가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&gt;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휴가 캘린더                                                                                                  </a:t>
            </a:r>
            <a:r>
              <a:rPr lang="ko-KR" altLang="en-US" sz="1050" dirty="0">
                <a:latin typeface="HY견고딕" pitchFamily="18" charset="-127"/>
                <a:ea typeface="HY견고딕" pitchFamily="18" charset="-127"/>
              </a:rPr>
              <a:t>월별 휴가 내역 조회</a:t>
            </a:r>
            <a:endParaRPr lang="en-US" altLang="ko-KR" sz="1050" dirty="0">
              <a:latin typeface="HY견고딕" pitchFamily="18" charset="-127"/>
              <a:ea typeface="HY견고딕" pitchFamily="18" charset="-127"/>
            </a:endParaRPr>
          </a:p>
          <a:p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             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9872" y="307777"/>
            <a:ext cx="566533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휴가캘린더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]</a:t>
            </a:r>
          </a:p>
          <a:p>
            <a:r>
              <a:rPr lang="en-US" altLang="ko-KR" sz="1400" dirty="0">
                <a:latin typeface="+mn-ea"/>
              </a:rPr>
              <a:t>  • [</a:t>
            </a:r>
            <a:r>
              <a:rPr lang="ko-KR" altLang="en-US" sz="1400" dirty="0">
                <a:latin typeface="+mn-ea"/>
              </a:rPr>
              <a:t>결재 진행 중</a:t>
            </a:r>
            <a:r>
              <a:rPr lang="en-US" altLang="ko-KR" sz="1400" dirty="0">
                <a:latin typeface="+mn-ea"/>
              </a:rPr>
              <a:t>], [</a:t>
            </a:r>
            <a:r>
              <a:rPr lang="ko-KR" altLang="en-US" sz="1400" dirty="0">
                <a:latin typeface="+mn-ea"/>
              </a:rPr>
              <a:t>승인</a:t>
            </a:r>
            <a:r>
              <a:rPr lang="en-US" altLang="ko-KR" sz="1400" dirty="0">
                <a:latin typeface="+mn-ea"/>
              </a:rPr>
              <a:t>] </a:t>
            </a:r>
            <a:r>
              <a:rPr lang="ko-KR" altLang="en-US" sz="1400" dirty="0">
                <a:latin typeface="+mn-ea"/>
              </a:rPr>
              <a:t>상태의 건만 조회됨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1. </a:t>
            </a:r>
            <a:r>
              <a:rPr lang="ko-KR" altLang="en-US" sz="1400" dirty="0">
                <a:latin typeface="+mn-ea"/>
              </a:rPr>
              <a:t>날짜별 총 휴가자가 우측 상단에 표기됨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2. </a:t>
            </a:r>
            <a:r>
              <a:rPr lang="ko-KR" altLang="en-US" sz="1400" dirty="0">
                <a:latin typeface="+mn-ea"/>
              </a:rPr>
              <a:t>특정 날짜 선택 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해당 일자 휴가자별 상세 정보가 팝업창으로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 </a:t>
            </a:r>
            <a:r>
              <a:rPr lang="ko-KR" altLang="en-US" sz="1400" dirty="0">
                <a:latin typeface="+mn-ea"/>
              </a:rPr>
              <a:t>표기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( </a:t>
            </a:r>
            <a:r>
              <a:rPr lang="ko-KR" altLang="en-US" sz="1400" dirty="0">
                <a:latin typeface="+mn-ea"/>
              </a:rPr>
              <a:t>상세정보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휴가 유형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신청일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승인일</a:t>
            </a:r>
            <a:r>
              <a:rPr lang="en-US" altLang="ko-KR" sz="1400" dirty="0">
                <a:latin typeface="+mn-ea"/>
              </a:rPr>
              <a:t>,</a:t>
            </a:r>
            <a:r>
              <a:rPr lang="ko-KR" altLang="en-US" sz="1400" dirty="0">
                <a:latin typeface="+mn-ea"/>
              </a:rPr>
              <a:t>결재자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등 </a:t>
            </a:r>
            <a:r>
              <a:rPr lang="en-US" altLang="ko-KR" sz="1400" dirty="0">
                <a:latin typeface="+mn-ea"/>
              </a:rPr>
              <a:t>)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95" y="307777"/>
            <a:ext cx="2554188" cy="6116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1420846" y="3661745"/>
            <a:ext cx="156977" cy="720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582896" y="3671270"/>
            <a:ext cx="156977" cy="720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862" y="3781767"/>
            <a:ext cx="6815822" cy="26589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821187" y="6021288"/>
            <a:ext cx="10951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 PC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버전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]</a:t>
            </a:r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169" y="2476133"/>
            <a:ext cx="3906515" cy="11856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직사각형 11"/>
          <p:cNvSpPr/>
          <p:nvPr/>
        </p:nvSpPr>
        <p:spPr>
          <a:xfrm>
            <a:off x="3373471" y="5052395"/>
            <a:ext cx="156977" cy="720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5211796" y="5519120"/>
            <a:ext cx="156977" cy="720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C4DC3189-704A-6D33-C69E-842D03E9948E}"/>
              </a:ext>
            </a:extLst>
          </p:cNvPr>
          <p:cNvSpPr/>
          <p:nvPr/>
        </p:nvSpPr>
        <p:spPr>
          <a:xfrm>
            <a:off x="3707904" y="4581128"/>
            <a:ext cx="216024" cy="144016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xmlns="" id="{60BC365F-74F0-C9AD-80FC-B38E1790513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388542" y="3172298"/>
            <a:ext cx="1440862" cy="1378202"/>
          </a:xfrm>
          <a:prstGeom prst="curvedConnector3">
            <a:avLst>
              <a:gd name="adj1" fmla="val 9803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xmlns="" id="{2B40E123-D9F4-DFF5-5CDD-0C0043415D53}"/>
              </a:ext>
            </a:extLst>
          </p:cNvPr>
          <p:cNvSpPr/>
          <p:nvPr/>
        </p:nvSpPr>
        <p:spPr>
          <a:xfrm>
            <a:off x="3544686" y="4530948"/>
            <a:ext cx="144016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xmlns="" id="{168656A0-7C9B-E58E-D002-6513CA614243}"/>
              </a:ext>
            </a:extLst>
          </p:cNvPr>
          <p:cNvSpPr/>
          <p:nvPr/>
        </p:nvSpPr>
        <p:spPr>
          <a:xfrm>
            <a:off x="4707124" y="2416136"/>
            <a:ext cx="144016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endParaRPr lang="ko-KR" altLang="en-US" sz="1000" dirty="0"/>
          </a:p>
        </p:txBody>
      </p:sp>
      <p:sp>
        <p:nvSpPr>
          <p:cNvPr id="16" name="직사각형 15"/>
          <p:cNvSpPr/>
          <p:nvPr/>
        </p:nvSpPr>
        <p:spPr>
          <a:xfrm>
            <a:off x="5054819" y="2951071"/>
            <a:ext cx="235465" cy="720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442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44" y="311768"/>
            <a:ext cx="2618555" cy="6073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0"/>
            <a:ext cx="26645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3.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휴가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&gt;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연차 현황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(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결재권자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)</a:t>
            </a:r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20945" y="2852936"/>
            <a:ext cx="313954" cy="720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20945" y="4618300"/>
            <a:ext cx="313954" cy="7200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419872" y="307777"/>
            <a:ext cx="541366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[</a:t>
            </a: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결재권자 연차 승인</a:t>
            </a: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/</a:t>
            </a:r>
            <a:r>
              <a:rPr lang="ko-KR" altLang="en-US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반려 방법</a:t>
            </a:r>
            <a:r>
              <a:rPr lang="en-US" altLang="ko-KR" sz="1400" dirty="0">
                <a:latin typeface="HY견고딕" panose="02030600000101010101" pitchFamily="18" charset="-127"/>
                <a:ea typeface="HY견고딕" panose="02030600000101010101" pitchFamily="18" charset="-127"/>
              </a:rPr>
              <a:t>]</a:t>
            </a:r>
          </a:p>
          <a:p>
            <a:endParaRPr lang="en-US" altLang="ko-KR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en-US" altLang="ko-KR" sz="1400" dirty="0">
                <a:latin typeface="+mn-ea"/>
              </a:rPr>
              <a:t>1.</a:t>
            </a:r>
            <a:r>
              <a:rPr lang="ko-KR" altLang="en-US" sz="1400" dirty="0">
                <a:latin typeface="+mn-ea"/>
              </a:rPr>
              <a:t>로그인한 사용자가 결재권자인 경우</a:t>
            </a:r>
            <a:r>
              <a:rPr lang="en-US" altLang="ko-KR" sz="1400" dirty="0">
                <a:latin typeface="+mn-ea"/>
              </a:rPr>
              <a:t>, </a:t>
            </a:r>
          </a:p>
          <a:p>
            <a:r>
              <a:rPr lang="ko-KR" altLang="en-US" sz="1400" dirty="0">
                <a:latin typeface="+mn-ea"/>
              </a:rPr>
              <a:t>   본인에게 접수된 연차 신청 이력을 실시간으로 확인 가능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2.</a:t>
            </a:r>
            <a:r>
              <a:rPr lang="ko-KR" altLang="en-US" sz="1400" dirty="0">
                <a:latin typeface="+mn-ea"/>
              </a:rPr>
              <a:t>각 신청 건에 대해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승인</a:t>
            </a:r>
            <a:r>
              <a:rPr lang="en-US" altLang="ko-KR" sz="1400" dirty="0">
                <a:latin typeface="+mn-ea"/>
              </a:rPr>
              <a:t>] </a:t>
            </a:r>
            <a:r>
              <a:rPr lang="ko-KR" altLang="en-US" sz="1400" dirty="0">
                <a:latin typeface="+mn-ea"/>
              </a:rPr>
              <a:t>또는 </a:t>
            </a:r>
            <a:r>
              <a:rPr lang="en-US" altLang="ko-KR" sz="1400" dirty="0">
                <a:latin typeface="+mn-ea"/>
              </a:rPr>
              <a:t>[</a:t>
            </a:r>
            <a:r>
              <a:rPr lang="ko-KR" altLang="en-US" sz="1400" dirty="0">
                <a:latin typeface="+mn-ea"/>
              </a:rPr>
              <a:t>반려</a:t>
            </a:r>
            <a:r>
              <a:rPr lang="en-US" altLang="ko-KR" sz="1400" dirty="0">
                <a:latin typeface="+mn-ea"/>
              </a:rPr>
              <a:t>]</a:t>
            </a:r>
            <a:r>
              <a:rPr lang="ko-KR" altLang="en-US" sz="1400" dirty="0">
                <a:latin typeface="+mn-ea"/>
              </a:rPr>
              <a:t>버튼을 클릭하여 최종 처리</a:t>
            </a: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79277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0" y="298800"/>
            <a:ext cx="2595600" cy="61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0"/>
            <a:ext cx="9089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4.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내 정보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&gt;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개인정보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Tab                                                                          </a:t>
            </a:r>
            <a:r>
              <a:rPr lang="ko-KR" altLang="en-US" sz="1050" dirty="0">
                <a:latin typeface="HY견고딕" pitchFamily="18" charset="-127"/>
                <a:ea typeface="HY견고딕" pitchFamily="18" charset="-127"/>
              </a:rPr>
              <a:t>로그인 사용자의 개인정보 조회 및 수정</a:t>
            </a:r>
          </a:p>
          <a:p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19872" y="307777"/>
            <a:ext cx="459292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개인정보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]</a:t>
            </a:r>
          </a:p>
          <a:p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b="1" dirty="0">
                <a:latin typeface="+mn-ea"/>
              </a:rPr>
              <a:t>• </a:t>
            </a:r>
            <a:r>
              <a:rPr lang="ko-KR" altLang="en-US" sz="1400" dirty="0">
                <a:latin typeface="+mn-ea"/>
              </a:rPr>
              <a:t>로그인 사용자의 개인정보 조회 및 수정이 가능하다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609218" y="1803228"/>
            <a:ext cx="466679" cy="2160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847218" y="3501008"/>
            <a:ext cx="466679" cy="10801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868989" y="3914666"/>
            <a:ext cx="466679" cy="10801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64961" y="4617132"/>
            <a:ext cx="466679" cy="10801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778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1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0" y="298800"/>
            <a:ext cx="2595600" cy="61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419872" y="307777"/>
            <a:ext cx="3991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프로필사진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]</a:t>
            </a:r>
          </a:p>
          <a:p>
            <a:r>
              <a:rPr lang="en-US" altLang="ko-KR" sz="1400" b="1" dirty="0">
                <a:latin typeface="+mn-ea"/>
              </a:rPr>
              <a:t> • </a:t>
            </a:r>
            <a:r>
              <a:rPr lang="ko-KR" altLang="en-US" sz="1400" dirty="0">
                <a:latin typeface="+mn-ea"/>
              </a:rPr>
              <a:t>사용할 프로필 사진 등록 및 수정이 가능하다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0"/>
            <a:ext cx="8975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4.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내 정보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&gt;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개인정보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Tab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&gt;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프로필 클릭                                                            </a:t>
            </a:r>
            <a:r>
              <a:rPr lang="ko-KR" altLang="en-US" sz="1050" dirty="0">
                <a:latin typeface="HY견고딕" pitchFamily="18" charset="-127"/>
                <a:ea typeface="HY견고딕" pitchFamily="18" charset="-127"/>
              </a:rPr>
              <a:t>사용할 프로필 사진 등록 및 수정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609218" y="1803228"/>
            <a:ext cx="466679" cy="2160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531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2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0" y="298800"/>
            <a:ext cx="2595600" cy="61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419872" y="307777"/>
            <a:ext cx="54136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보고대상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]</a:t>
            </a:r>
          </a:p>
          <a:p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b="1" dirty="0">
                <a:latin typeface="+mn-ea"/>
              </a:rPr>
              <a:t>• </a:t>
            </a:r>
            <a:r>
              <a:rPr lang="ko-KR" altLang="en-US" sz="1400" dirty="0">
                <a:latin typeface="+mn-ea"/>
              </a:rPr>
              <a:t>할당된 결재권자 </a:t>
            </a:r>
            <a:r>
              <a:rPr lang="en-US" altLang="ko-KR" sz="1400" dirty="0">
                <a:latin typeface="+mn-ea"/>
              </a:rPr>
              <a:t>: </a:t>
            </a:r>
            <a:r>
              <a:rPr lang="ko-KR" altLang="en-US" sz="1400" dirty="0">
                <a:latin typeface="+mn-ea"/>
              </a:rPr>
              <a:t>휴가 </a:t>
            </a:r>
            <a:r>
              <a:rPr lang="ko-KR" altLang="en-US" sz="1400" dirty="0" err="1">
                <a:latin typeface="+mn-ea"/>
              </a:rPr>
              <a:t>신청시</a:t>
            </a:r>
            <a:r>
              <a:rPr lang="ko-KR" altLang="en-US" sz="1400" dirty="0">
                <a:latin typeface="+mn-ea"/>
              </a:rPr>
              <a:t> 본인에게 지정된 결재권자 표기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* </a:t>
            </a:r>
            <a:r>
              <a:rPr lang="ko-KR" altLang="en-US" sz="1400" dirty="0">
                <a:latin typeface="+mn-ea"/>
              </a:rPr>
              <a:t>직접 수정 불가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  * </a:t>
            </a:r>
            <a:r>
              <a:rPr lang="ko-KR" altLang="en-US" sz="1400" dirty="0" err="1">
                <a:latin typeface="+mn-ea"/>
              </a:rPr>
              <a:t>오기입</a:t>
            </a:r>
            <a:r>
              <a:rPr lang="ko-KR" altLang="en-US" sz="1400" dirty="0">
                <a:latin typeface="+mn-ea"/>
              </a:rPr>
              <a:t> 및 </a:t>
            </a:r>
            <a:r>
              <a:rPr lang="ko-KR" altLang="en-US" sz="1400" dirty="0" err="1">
                <a:latin typeface="+mn-ea"/>
              </a:rPr>
              <a:t>변경시</a:t>
            </a:r>
            <a:r>
              <a:rPr lang="ko-KR" altLang="en-US" sz="1400" dirty="0">
                <a:latin typeface="+mn-ea"/>
              </a:rPr>
              <a:t> 관리자 문의 </a:t>
            </a:r>
            <a:endParaRPr lang="en-US" altLang="ko-KR" sz="1400" dirty="0">
              <a:latin typeface="+mn-ea"/>
            </a:endParaRPr>
          </a:p>
          <a:p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  <a:p>
            <a:endParaRPr lang="en-US" altLang="ko-KR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2380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4.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내 정보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&gt;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보고대상 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Tab</a:t>
            </a:r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609218" y="1803228"/>
            <a:ext cx="466679" cy="2160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107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3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0" y="298800"/>
            <a:ext cx="2595600" cy="61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0"/>
            <a:ext cx="8933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5.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직원정보                                                                                                                      </a:t>
            </a:r>
            <a:r>
              <a:rPr lang="ko-KR" altLang="en-US" sz="1050" dirty="0" err="1">
                <a:latin typeface="HY견고딕" pitchFamily="18" charset="-127"/>
                <a:ea typeface="HY견고딕" pitchFamily="18" charset="-127"/>
              </a:rPr>
              <a:t>직원정보</a:t>
            </a:r>
            <a:r>
              <a:rPr lang="ko-KR" altLang="en-US" sz="1050" dirty="0">
                <a:latin typeface="HY견고딕" pitchFamily="18" charset="-127"/>
                <a:ea typeface="HY견고딕" pitchFamily="18" charset="-127"/>
              </a:rPr>
              <a:t> 조회</a:t>
            </a:r>
            <a:endParaRPr lang="en-US" altLang="ko-KR" sz="1050" dirty="0">
              <a:latin typeface="HY견고딕" pitchFamily="18" charset="-127"/>
              <a:ea typeface="HY견고딕" pitchFamily="18" charset="-127"/>
            </a:endParaRPr>
          </a:p>
          <a:p>
            <a:endParaRPr lang="ko-KR" altLang="en-US" sz="1400" dirty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19872" y="307777"/>
            <a:ext cx="2658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직원정보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]</a:t>
            </a:r>
          </a:p>
          <a:p>
            <a:r>
              <a:rPr lang="en-US" altLang="ko-KR" sz="1400" b="1" dirty="0">
                <a:latin typeface="+mn-ea"/>
              </a:rPr>
              <a:t> • </a:t>
            </a:r>
            <a:r>
              <a:rPr lang="ko-KR" altLang="en-US" sz="1400" dirty="0">
                <a:latin typeface="+mn-ea"/>
              </a:rPr>
              <a:t>등록된 직원정보를 조회한다</a:t>
            </a:r>
          </a:p>
        </p:txBody>
      </p:sp>
    </p:spTree>
    <p:extLst>
      <p:ext uri="{BB962C8B-B14F-4D97-AF65-F5344CB8AC3E}">
        <p14:creationId xmlns:p14="http://schemas.microsoft.com/office/powerpoint/2010/main" val="1901107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4"/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0" y="298800"/>
            <a:ext cx="2595600" cy="61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0" y="0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6. </a:t>
            </a:r>
            <a:r>
              <a:rPr lang="ko-KR" altLang="en-US" sz="1400" dirty="0">
                <a:latin typeface="HY견고딕" pitchFamily="18" charset="-127"/>
                <a:ea typeface="HY견고딕" pitchFamily="18" charset="-127"/>
              </a:rPr>
              <a:t>게시판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9872" y="307777"/>
            <a:ext cx="51026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[</a:t>
            </a:r>
            <a:r>
              <a:rPr lang="ko-KR" altLang="en-US" sz="1400" dirty="0" err="1">
                <a:latin typeface="HY견고딕" pitchFamily="18" charset="-127"/>
                <a:ea typeface="HY견고딕" pitchFamily="18" charset="-127"/>
              </a:rPr>
              <a:t>뉴스피드</a:t>
            </a:r>
            <a:r>
              <a:rPr lang="en-US" altLang="ko-KR" sz="1400" dirty="0">
                <a:latin typeface="HY견고딕" pitchFamily="18" charset="-127"/>
                <a:ea typeface="HY견고딕" pitchFamily="18" charset="-127"/>
              </a:rPr>
              <a:t>]</a:t>
            </a:r>
          </a:p>
          <a:p>
            <a:r>
              <a:rPr lang="en-US" altLang="ko-KR" sz="1400" dirty="0">
                <a:latin typeface="+mn-ea"/>
              </a:rPr>
              <a:t> • </a:t>
            </a:r>
            <a:r>
              <a:rPr lang="ko-KR" altLang="en-US" sz="1400" dirty="0">
                <a:latin typeface="+mn-ea"/>
              </a:rPr>
              <a:t>이미지와 비디오를 선택 첨부하여 게시글 작성가능 </a:t>
            </a: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• </a:t>
            </a:r>
            <a:r>
              <a:rPr lang="ko-KR" altLang="en-US" sz="1400" dirty="0">
                <a:latin typeface="+mn-ea"/>
              </a:rPr>
              <a:t>기존 </a:t>
            </a:r>
            <a:r>
              <a:rPr lang="ko-KR" altLang="en-US" sz="1400" dirty="0" err="1">
                <a:latin typeface="+mn-ea"/>
              </a:rPr>
              <a:t>게시글에</a:t>
            </a:r>
            <a:r>
              <a:rPr lang="ko-KR" altLang="en-US" sz="1400" dirty="0">
                <a:latin typeface="+mn-ea"/>
              </a:rPr>
              <a:t> 대해 좋아요 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댓글 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공유 등의 피드백 가능</a:t>
            </a:r>
            <a:r>
              <a:rPr lang="en-US" altLang="ko-KR" sz="1400" dirty="0">
                <a:latin typeface="+mn-ea"/>
              </a:rPr>
              <a:t> 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01107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924</Words>
  <Application>Microsoft Office PowerPoint</Application>
  <PresentationFormat>화면 슬라이드 쇼(4:3)</PresentationFormat>
  <Paragraphs>156</Paragraphs>
  <Slides>18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22</cp:revision>
  <dcterms:created xsi:type="dcterms:W3CDTF">2026-04-28T06:50:26Z</dcterms:created>
  <dcterms:modified xsi:type="dcterms:W3CDTF">2026-05-15T06:25:09Z</dcterms:modified>
</cp:coreProperties>
</file>